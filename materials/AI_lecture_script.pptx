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안녕하세요, 선생님. 오늘은 생성형 AI를 수업과 학교 업무에 어떻게 활용할 수 있는지 함께 실습해 보는 시간입니다. AI가 낯설어도 괜찮습니다. 오늘 배운 내용은 강의 후에도 따라할 수 있는 실습 가이드 페이지 링크로 드릴 예정입니다.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오늘 50분 동안 네 가지 도구를 다룹니다. 먼저 광주아이온에 접속하는 방법부터 시작하고, NotebookLM으로 학교 문서 기반 업무를, Gemini로 글쓰기·자료 제작을, 마지막에는 '이럴 때 뭘 쓰지?' 고민될 때 보는 상황별 가이드를 안내드리겠습니다.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실습 전에 세 가지만 기억해 주세요. 첫째, 광주아이온에 로그인합니다. 둘째, 오늘 드리는 가이드 페이지에서 [복사] 버튼을 누르면 예시 문장이 복사됩니다. 셋째, AI가 만든 결과는 반드시 선생님께서 확인하고 수정한 뒤 사용하세요. 지금부터 화면을 함께 보시면서 따라해 주시면 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광주아이온은 선생님 아이디 하나로 모든 에듀테크가 연결되는 통합 플랫폼입니다. 지금 함께 aion.gen.go.kr에 접속해 보겠습니다. 로그인 후 메인 화면에서 Gemini와 NotebookLM 위젯을 찾아 클릭해 보세요. 우측 [나의 화면 구성하기]로 자주 쓰는 위젯을 앞에 배치할 수 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NotebookLM은 선생님이 올린 문서만을 기반으로 답변합니다. 학교 규정 PDF, 학사일정, 학생 활동 보고서를 소스로 올리면 '현장체험학습 마감일이 언제야?', '이 학생 세특 초안 써줘'처럼 질문할 수 있습니다. 지금 가이드의 프롬프트 [복사] 버튼을 눌러 하나씩 실습해 보겠습니다.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부서와 담임 업무별로 활용 예시를 준비했습니다. 교무기획부 선생님은 학사일정 표 정리, 담임 선생님은 학부모 안내문 초안에 활용하시면 좋습니다. 가이드 페이지에서 본인 업무에 가까운 프롬프트를 골라 [복사]한 뒤 Gemini나 NotebookLM에 붙여 넣어 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Gemini는 새로운 글과 자료를 만드는 데 강합니다. @Google 지도로 수학여행 동선을, Forms Gemini로 설문을 자동 생성할 수 있습니다. 슬라이드는 Gemini로 내용을 구성한 뒤, 구글 슬라이드의 제미나이 패널에서 이미지와 슬라이드를 만드는 7단계 프로세스를 따르시면 됩니다. Forms는 최초 1회 영어 설정이 필요합니다.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워크스페이스+ 기능을 조금 더 살펴보겠습니다. 스프레드시트에서 복잡한 함수 없이 자연어로 성적 데이터를 분석할 수 있고, 클래스룸에서 학생 과제에 대한 피드백 초안을 받을 수 있습니다. 방학에 수업을 설계하실 때 2022 개정 교육과정 프롬프트도 활용해 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강의가 끝난 뒤 가장 많이 받는 질문이 '이럴 때 뭘 써야 하나요?'입니다. 간단히 말하면, 학교 문서를 기반으로 답이 필요하면 NotebookLM, 새로운 글이나 자료를 만들 때는 Gemini를 쓰시면 됩니다. 가이드 페이지 맨 아래 [상황별 활용]에 표로 정리해 두었으니 북마크해 두세요.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마지막으로 꼭 기억해 주실 세 가지입니다. 개인정보는 절대 입력하지 마시고, AI가 알려준 내용은 반드시 확인하신 뒤 사용하세요. AI는 선생님을 대체하는 것이 아니라 업무를 돕는 파트너입니다. 오늘 드린 실습 가이드 링크를 저장해 두시면 언제든 다시 따라하실 수 있습니다. 질문 있으신 선생님 편하게 말씀해 주세요. 감사합니다.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40A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91695" cy="137160"/>
          </a:xfrm>
          <a:prstGeom prst="rect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AI와 함께 스마트하게 일하기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926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BFDBFE"/>
                </a:solidFill>
              </a:defRPr>
            </a:pPr>
            <a:r>
              <a:t>중학교 선생님 대상 생성형 AI 실습 연수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1148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200"/>
              </a:spcAft>
              <a:defRPr sz="1800" b="0">
                <a:solidFill>
                  <a:srgbClr val="E2E8F0"/>
                </a:solidFill>
              </a:defRPr>
            </a:pPr>
            <a:r>
              <a:t>광주아이온(AI-ON) · Gemini · NotebookLM</a:t>
            </a: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  <a:r>
              <a:t>연수 시간: 50분  |  실습 중심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4748B"/>
                </a:solidFill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E40AF"/>
                </a:solidFill>
              </a:defRPr>
            </a:pPr>
            <a:r>
              <a:t>오늘의 목표 &amp; 50분 로드맵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691640"/>
            <a:ext cx="2286000" cy="54864"/>
          </a:xfrm>
          <a:prstGeom prst="rect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920240"/>
            <a:ext cx="102412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  <a:defRPr sz="1700" b="0">
                <a:solidFill>
                  <a:srgbClr val="334155"/>
                </a:solidFill>
              </a:defRPr>
            </a:pPr>
            <a:r>
              <a:t>목표 ① 광주아이온 접속과 Gemini·NotebookLM 기본 사용법 익히기</a:t>
            </a:r>
          </a:p>
          <a:p>
            <a:pPr>
              <a:spcAft>
                <a:spcPts val="1000"/>
              </a:spcAft>
              <a:defRPr sz="1700">
                <a:solidFill>
                  <a:srgbClr val="334155"/>
                </a:solidFill>
              </a:defRPr>
            </a:pPr>
            <a:r>
              <a:t>목표 ② 수업·업무에 바로 쓸 수 있는 프롬프트 실습하기</a:t>
            </a:r>
          </a:p>
          <a:p>
            <a:pPr>
              <a:spcAft>
                <a:spcPts val="1000"/>
              </a:spcAft>
              <a:defRPr sz="1700">
                <a:solidFill>
                  <a:srgbClr val="334155"/>
                </a:solidFill>
              </a:defRPr>
            </a:pPr>
            <a:r>
              <a:t>목표 ③ 강의 후 스스로 활용할 수 있는 가이드 확보하기</a:t>
            </a:r>
          </a:p>
          <a:p>
            <a:pPr>
              <a:spcAft>
                <a:spcPts val="1000"/>
              </a:spcAft>
              <a:defRPr sz="1700">
                <a:solidFill>
                  <a:srgbClr val="334155"/>
                </a:solidFill>
              </a:defRPr>
            </a:pPr>
            <a:r>
              <a:t>0~5분 아이온 → 5~20분 NotebookLM → 20~32분 업무 활용</a:t>
            </a:r>
          </a:p>
          <a:p>
            <a:pPr>
              <a:spcAft>
                <a:spcPts val="1000"/>
              </a:spcAft>
              <a:defRPr sz="1700">
                <a:solidFill>
                  <a:srgbClr val="334155"/>
                </a:solidFill>
              </a:defRPr>
            </a:pPr>
            <a:r>
              <a:t>32~45분 Gemini → 45~50분 마무리 &amp; Q&amp;A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4748B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E40AF"/>
                </a:solidFill>
              </a:defRPr>
            </a:pPr>
            <a:r>
              <a:t>처음이신가요? 3분 빠른 시작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691640"/>
            <a:ext cx="2286000" cy="54864"/>
          </a:xfrm>
          <a:prstGeom prst="rect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920240"/>
            <a:ext cx="102412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  <a:defRPr sz="1700" b="0">
                <a:solidFill>
                  <a:srgbClr val="334155"/>
                </a:solidFill>
              </a:defRPr>
            </a:pPr>
            <a:r>
              <a:t>STEP 1  광주아이온(aion.gen.go.kr) 접속 → teacher@genedu.kr 로그인</a:t>
            </a:r>
          </a:p>
          <a:p>
            <a:pPr>
              <a:spcAft>
                <a:spcPts val="1000"/>
              </a:spcAft>
              <a:defRPr sz="1700">
                <a:solidFill>
                  <a:srgbClr val="334155"/>
                </a:solidFill>
              </a:defRPr>
            </a:pPr>
            <a:r>
              <a:t>STEP 2  가이드 페이지의 [복사] 버튼으로 프롬프트 복사 → AI에 붙여넣기</a:t>
            </a:r>
          </a:p>
          <a:p>
            <a:pPr>
              <a:spcAft>
                <a:spcPts val="1000"/>
              </a:spcAft>
              <a:defRPr sz="1700">
                <a:solidFill>
                  <a:srgbClr val="334155"/>
                </a:solidFill>
              </a:defRPr>
            </a:pPr>
            <a:r>
              <a:t>STEP 3  AI 결과는 '초안' — 선생님이 꼭 확인하고 수정 후 사용</a:t>
            </a:r>
          </a:p>
          <a:p>
            <a:pPr>
              <a:spcAft>
                <a:spcPts val="1000"/>
              </a:spcAft>
              <a:defRPr sz="1700">
                <a:solidFill>
                  <a:srgbClr val="334155"/>
                </a:solidFill>
              </a:defRPr>
            </a:pPr>
            <a:r>
              <a:t>💡 글자가 작으면 가이드 상단 [가+] 버튼  |  용어는 [AI 기초 도움말] 참고</a:t>
            </a:r>
          </a:p>
          <a:p>
            <a:pPr>
              <a:spcAft>
                <a:spcPts val="1000"/>
              </a:spcAft>
              <a:defRPr sz="1700">
                <a:solidFill>
                  <a:srgbClr val="334155"/>
                </a:solidFill>
              </a:defRPr>
            </a:pPr>
            <a:r>
              <a:t>📌 강의 후에도 이 링크만 있으면 언제든 따라하실 수 있습니다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4748B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411480"/>
            <a:ext cx="1463040" cy="41148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E40AF"/>
                </a:solidFill>
              </a:defRPr>
            </a:pPr>
            <a:r>
              <a:t>[0~5분]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E40AF"/>
                </a:solidFill>
              </a:defRPr>
            </a:pPr>
            <a:r>
              <a:t>광주아이온(AI-ON) 마스터하기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691640"/>
            <a:ext cx="2286000" cy="54864"/>
          </a:xfrm>
          <a:prstGeom prst="rect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920240"/>
            <a:ext cx="102412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  <a:defRPr sz="1700" b="0">
                <a:solidFill>
                  <a:srgbClr val="334155"/>
                </a:solidFill>
              </a:defRPr>
            </a:pPr>
            <a:r>
              <a:t>통합 ID 하나로 Gemini, NotebookLM, 클래스룸, 드라이브 자동 연결 (SSO)</a:t>
            </a:r>
          </a:p>
          <a:p>
            <a:pPr>
              <a:spcAft>
                <a:spcPts val="1000"/>
              </a:spcAft>
              <a:defRPr sz="1700">
                <a:solidFill>
                  <a:srgbClr val="334155"/>
                </a:solidFill>
              </a:defRPr>
            </a:pPr>
            <a:r>
              <a:t>메인 화면 위젯 클릭 → Gemini / NotebookLM 바로 이동</a:t>
            </a:r>
          </a:p>
          <a:p>
            <a:pPr>
              <a:spcAft>
                <a:spcPts val="1000"/>
              </a:spcAft>
              <a:defRPr sz="1700">
                <a:solidFill>
                  <a:srgbClr val="334155"/>
                </a:solidFill>
              </a:defRPr>
            </a:pPr>
            <a:r>
              <a:t>[나의 화면 구성하기]로 자주 쓰는 위젯 배치 조절</a:t>
            </a:r>
          </a:p>
          <a:p>
            <a:pPr>
              <a:spcAft>
                <a:spcPts val="1000"/>
              </a:spcAft>
              <a:defRPr sz="1700">
                <a:solidFill>
                  <a:srgbClr val="334155"/>
                </a:solidFill>
              </a:defRPr>
            </a:pPr>
            <a:r>
              <a:t>학습 분석 대시보드: 학생 활동·퀴즈 리포트·학습 패턴 확인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4748B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411480"/>
            <a:ext cx="1463040" cy="41148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E40AF"/>
                </a:solidFill>
              </a:defRPr>
            </a:pPr>
            <a:r>
              <a:t>[5~20분]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E40AF"/>
                </a:solidFill>
              </a:defRPr>
            </a:pPr>
            <a:r>
              <a:t>NotebookLM — 나만의 학교 비서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691640"/>
            <a:ext cx="2286000" cy="54864"/>
          </a:xfrm>
          <a:prstGeom prst="rect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920240"/>
            <a:ext cx="102412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  <a:defRPr sz="1700" b="0">
                <a:solidFill>
                  <a:srgbClr val="334155"/>
                </a:solidFill>
              </a:defRPr>
            </a:pPr>
            <a:r>
              <a:t>1-1. 학교 규정·학사일정·공문 업로드 → 학교 전문 챗봇</a:t>
            </a:r>
          </a:p>
          <a:p>
            <a:pPr>
              <a:spcAft>
                <a:spcPts val="1000"/>
              </a:spcAft>
              <a:defRPr sz="1700">
                <a:solidFill>
                  <a:srgbClr val="334155"/>
                </a:solidFill>
              </a:defRPr>
            </a:pPr>
            <a:r>
              <a:t>1-2. 학생 보고서 업로드 → 세특(생기부) 초안 작성</a:t>
            </a:r>
          </a:p>
          <a:p>
            <a:pPr>
              <a:spcAft>
                <a:spcPts val="1000"/>
              </a:spcAft>
              <a:defRPr sz="1700">
                <a:solidFill>
                  <a:srgbClr val="334155"/>
                </a:solidFill>
              </a:defRPr>
            </a:pPr>
            <a:r>
              <a:t>1-3. 성취기준·작년 평가계획 → 새 평가계획 초안</a:t>
            </a:r>
          </a:p>
          <a:p>
            <a:pPr>
              <a:spcAft>
                <a:spcPts val="1000"/>
              </a:spcAft>
              <a:defRPr sz="1700">
                <a:solidFill>
                  <a:srgbClr val="334155"/>
                </a:solidFill>
              </a:defRPr>
            </a:pPr>
            <a:r>
              <a:t>1-4. 교과서 PDF → 평가 문항·루브릭(채점기준표) 제작</a:t>
            </a:r>
          </a:p>
          <a:p>
            <a:pPr>
              <a:spcAft>
                <a:spcPts val="1000"/>
              </a:spcAft>
              <a:defRPr sz="1700">
                <a:solidFill>
                  <a:srgbClr val="334155"/>
                </a:solidFill>
              </a:defRPr>
            </a:pPr>
            <a:r>
              <a:t>실습: + 새 노트 → + 소스 추가 → 하단에서 질문하기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4748B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411480"/>
            <a:ext cx="1463040" cy="41148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E40AF"/>
                </a:solidFill>
              </a:defRPr>
            </a:pPr>
            <a:r>
              <a:t>[20~32분]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E40AF"/>
                </a:solidFill>
              </a:defRPr>
            </a:pPr>
            <a:r>
              <a:t>부서별 · 담임 업무 맞춤 활용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691640"/>
            <a:ext cx="2286000" cy="54864"/>
          </a:xfrm>
          <a:prstGeom prst="rect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920240"/>
            <a:ext cx="102412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  <a:defRPr sz="1700" b="0">
                <a:solidFill>
                  <a:srgbClr val="334155"/>
                </a:solidFill>
              </a:defRPr>
            </a:pPr>
            <a:r>
              <a:t>교무기획부: 학사일정 정리, 회의록 요약, 연간 계획 시사점 도출</a:t>
            </a:r>
          </a:p>
          <a:p>
            <a:pPr>
              <a:spcAft>
                <a:spcPts val="1000"/>
              </a:spcAft>
              <a:defRPr sz="1700">
                <a:solidFill>
                  <a:srgbClr val="334155"/>
                </a:solidFill>
              </a:defRPr>
            </a:pPr>
            <a:r>
              <a:t>교육연구부: 수행평가 루브릭, 학교평가 보고서 개요 작성</a:t>
            </a:r>
          </a:p>
          <a:p>
            <a:pPr>
              <a:spcAft>
                <a:spcPts val="1000"/>
              </a:spcAft>
              <a:defRPr sz="1700">
                <a:solidFill>
                  <a:srgbClr val="334155"/>
                </a:solidFill>
              </a:defRPr>
            </a:pPr>
            <a:r>
              <a:t>담임 — 학부모 소통: 가정통신문·상담일지 요약 초안</a:t>
            </a:r>
          </a:p>
          <a:p>
            <a:pPr>
              <a:spcAft>
                <a:spcPts val="1000"/>
              </a:spcAft>
              <a:defRPr sz="1700">
                <a:solidFill>
                  <a:srgbClr val="334155"/>
                </a:solidFill>
              </a:defRPr>
            </a:pPr>
            <a:r>
              <a:t>담임 — 학급 활동: 협동 프로젝트·중1 적응 프로그램 아이디어</a:t>
            </a:r>
          </a:p>
          <a:p>
            <a:pPr>
              <a:spcAft>
                <a:spcPts val="1000"/>
              </a:spcAft>
              <a:defRPr sz="1700">
                <a:solidFill>
                  <a:srgbClr val="334155"/>
                </a:solidFill>
              </a:defRPr>
            </a:pPr>
            <a:r>
              <a:t>💡 가이드 페이지에서 내 업무에 맞는 프롬프트를 [복사]해 바로 시도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4748B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411480"/>
            <a:ext cx="1463040" cy="41148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E40AF"/>
                </a:solidFill>
              </a:defRPr>
            </a:pPr>
            <a:r>
              <a:t>[32~45분]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E40AF"/>
                </a:solidFill>
              </a:defRPr>
            </a:pPr>
            <a:r>
              <a:t>Gemini 심화 — 만능 조수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691640"/>
            <a:ext cx="2286000" cy="54864"/>
          </a:xfrm>
          <a:prstGeom prst="rect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920240"/>
            <a:ext cx="102412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  <a:defRPr sz="1700" b="0">
                <a:solidFill>
                  <a:srgbClr val="334155"/>
                </a:solidFill>
              </a:defRPr>
            </a:pPr>
            <a:r>
              <a:t>2-1. @기능: @Google 지도, @Drive, @YouTube 실시간 연동</a:t>
            </a:r>
          </a:p>
          <a:p>
            <a:pPr>
              <a:spcAft>
                <a:spcPts val="1000"/>
              </a:spcAft>
              <a:defRPr sz="1700">
                <a:solidFill>
                  <a:srgbClr val="334155"/>
                </a:solidFill>
              </a:defRPr>
            </a:pPr>
            <a:r>
              <a:t>2-2. Gems: 자주 쓰는 AI 역할 저장 (프롬프트·양식 생성기)</a:t>
            </a:r>
          </a:p>
          <a:p>
            <a:pPr>
              <a:spcAft>
                <a:spcPts val="1000"/>
              </a:spcAft>
              <a:defRPr sz="1700">
                <a:solidFill>
                  <a:srgbClr val="334155"/>
                </a:solidFill>
              </a:defRPr>
            </a:pPr>
            <a:r>
              <a:t>2-3. Google Forms: 'Create form with Gemini'로 설문 자동 생성</a:t>
            </a:r>
          </a:p>
          <a:p>
            <a:pPr>
              <a:spcAft>
                <a:spcPts val="1000"/>
              </a:spcAft>
              <a:defRPr sz="1700">
                <a:solidFill>
                  <a:srgbClr val="334155"/>
                </a:solidFill>
              </a:defRPr>
            </a:pPr>
            <a:r>
              <a:t>2-4. 슬라이드 7단계: 내용 구성 → 이미지 → 슬라이드 → 발표 스크립트</a:t>
            </a:r>
          </a:p>
          <a:p>
            <a:pPr>
              <a:spcAft>
                <a:spcPts val="1000"/>
              </a:spcAft>
              <a:defRPr sz="1700">
                <a:solidFill>
                  <a:srgbClr val="334155"/>
                </a:solidFill>
              </a:defRPr>
            </a:pPr>
            <a:r>
              <a:t>⚠️ Forms 사용 시: 언어 English 설정 + Workspace Labs 가입 (최초 1회)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4748B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411480"/>
            <a:ext cx="1463040" cy="41148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E40AF"/>
                </a:solidFill>
              </a:defRPr>
            </a:pPr>
            <a:r>
              <a:t>[45~48분]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E40AF"/>
                </a:solidFill>
              </a:defRPr>
            </a:pPr>
            <a:r>
              <a:t>워크스페이스+ 심화 팁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691640"/>
            <a:ext cx="2286000" cy="54864"/>
          </a:xfrm>
          <a:prstGeom prst="rect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920240"/>
            <a:ext cx="102412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  <a:defRPr sz="1700" b="0">
                <a:solidFill>
                  <a:srgbClr val="334155"/>
                </a:solidFill>
              </a:defRPr>
            </a:pPr>
            <a:r>
              <a:t>스프레드시트: '국어 80점 이상 학생 특징 분석해줘' — 함수 없이 자연어 분석</a:t>
            </a:r>
          </a:p>
          <a:p>
            <a:pPr>
              <a:spcAft>
                <a:spcPts val="1000"/>
              </a:spcAft>
              <a:defRPr sz="1700">
                <a:solidFill>
                  <a:srgbClr val="334155"/>
                </a:solidFill>
              </a:defRPr>
            </a:pPr>
            <a:r>
              <a:t>클래스룸: 학생 과제 PDF 업로드 → 성취기준 기반 맞춤 피드백 초안</a:t>
            </a:r>
          </a:p>
          <a:p>
            <a:pPr>
              <a:spcAft>
                <a:spcPts val="1000"/>
              </a:spcAft>
              <a:defRPr sz="1700">
                <a:solidFill>
                  <a:srgbClr val="334155"/>
                </a:solidFill>
              </a:defRPr>
            </a:pPr>
            <a:r>
              <a:t>[BONUS] 2022 개정 교육과정 반영 수업 설계 프롬프트</a:t>
            </a:r>
          </a:p>
          <a:p>
            <a:pPr>
              <a:spcAft>
                <a:spcPts val="1000"/>
              </a:spcAft>
              <a:defRPr sz="1700">
                <a:solidFill>
                  <a:srgbClr val="334155"/>
                </a:solidFill>
              </a:defRPr>
            </a:pPr>
            <a:r>
              <a:t>역량 중심 수업에서 '학생이 스스로 질문 생성' 활동 포함 요청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4748B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E40AF"/>
                </a:solidFill>
              </a:defRPr>
            </a:pPr>
            <a:r>
              <a:t>상황별 활용 가이드 — 강의 후 참고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691640"/>
            <a:ext cx="2286000" cy="54864"/>
          </a:xfrm>
          <a:prstGeom prst="rect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920240"/>
            <a:ext cx="102412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  <a:defRPr sz="1700" b="0">
                <a:solidFill>
                  <a:srgbClr val="334155"/>
                </a:solidFill>
              </a:defRPr>
            </a:pPr>
            <a:r>
              <a:t>📄 참고 문서가 있으면 → NotebookLM  |  ✨ 새로 만들 일이면 → Gemini</a:t>
            </a:r>
          </a:p>
          <a:p>
            <a:pPr>
              <a:spcAft>
                <a:spcPts val="1000"/>
              </a:spcAft>
              <a:defRPr sz="1700">
                <a:solidFill>
                  <a:srgbClr val="334155"/>
                </a:solidFill>
              </a:defRPr>
            </a:pPr>
            <a:r>
              <a:t>규정·일정·세특·평가 → NotebookLM  |  가정통신문·슬라이드·설문 → Gemini</a:t>
            </a:r>
          </a:p>
          <a:p>
            <a:pPr>
              <a:spcAft>
                <a:spcPts val="1000"/>
              </a:spcAft>
              <a:defRPr sz="1700">
                <a:solidFill>
                  <a:srgbClr val="334155"/>
                </a:solidFill>
              </a:defRPr>
            </a:pPr>
            <a:r>
              <a:t>3월 학기 초: 학부모 안내  |  4~6월: 평가 준비  |  7월: 세특 기록</a:t>
            </a:r>
          </a:p>
          <a:p>
            <a:pPr>
              <a:spcAft>
                <a:spcPts val="1000"/>
              </a:spcAft>
              <a:defRPr sz="1700">
                <a:solidFill>
                  <a:srgbClr val="334155"/>
                </a:solidFill>
              </a:defRPr>
            </a:pPr>
            <a:r>
              <a:t>가이드 페이지 [상황별 활용] 섹션 + 상단 검색창으로 프롬프트 바로 찾기</a:t>
            </a:r>
          </a:p>
          <a:p>
            <a:pPr>
              <a:spcAft>
                <a:spcPts val="1000"/>
              </a:spcAft>
              <a:defRPr sz="1700">
                <a:solidFill>
                  <a:srgbClr val="334155"/>
                </a:solidFill>
              </a:defRPr>
            </a:pPr>
            <a:r>
              <a:t>📌 페이지 링크 북마크 → 강의 후에도 체크리스트와 함께 자기주도 실습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4748B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93C5FD"/>
                </a:solidFill>
              </a:defRPr>
            </a:pPr>
            <a:r>
              <a:t>마무리 — AI는 선생님의 파트너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2412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1700" b="0">
                <a:solidFill>
                  <a:srgbClr val="CBD5E1"/>
                </a:solidFill>
              </a:defRPr>
            </a:pPr>
            <a:r>
              <a:t>🔒 개인정보: 학생 실명·연락처 등 민감 정보는 AI에 입력 금지</a:t>
            </a:r>
          </a:p>
          <a:p>
            <a:pPr>
              <a:spcAft>
                <a:spcPts val="1400"/>
              </a:spcAft>
              <a:defRPr sz="1700">
                <a:solidFill>
                  <a:srgbClr val="CBD5E1"/>
                </a:solidFill>
              </a:defRPr>
            </a:pPr>
            <a:r>
              <a:t>🔍 사실 확인: AI 생성 정보는 반드시 공신력 있는 자료로 재확인</a:t>
            </a:r>
          </a:p>
          <a:p>
            <a:pPr>
              <a:spcAft>
                <a:spcPts val="1400"/>
              </a:spcAft>
              <a:defRPr sz="1700">
                <a:solidFill>
                  <a:srgbClr val="CBD5E1"/>
                </a:solidFill>
              </a:defRPr>
            </a:pPr>
            <a:r>
              <a:t>✅ 최종 판단: 모든 교육적 판단의 책임은 선생님에게 있습니다</a:t>
            </a:r>
          </a:p>
          <a:p>
            <a:pPr>
              <a:spcAft>
                <a:spcPts val="1400"/>
              </a:spcAft>
              <a:defRPr sz="1700">
                <a:solidFill>
                  <a:srgbClr val="CBD5E1"/>
                </a:solidFill>
              </a:defRPr>
            </a:pPr>
            <a:r>
              <a:t>AI는 선생님을 대체하지 않고, 아이들과의 교감에 더 집중하도록 돕습니다</a:t>
            </a:r>
          </a:p>
          <a:p>
            <a:pPr>
              <a:spcAft>
                <a:spcPts val="1400"/>
              </a:spcAft>
              <a:defRPr sz="1700">
                <a:solidFill>
                  <a:srgbClr val="CBD5E1"/>
                </a:solidFill>
              </a:defRPr>
            </a:pPr>
            <a:r>
              <a:t>실습 가이드 링크 공유  →  Q&amp;A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4748B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