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안녕하세요. 오늘은 생성형 AI를 수업과 학교 업무에 활용하는 실습 연수입니다. 강의 후에도 따라할 수 있는 가이드 페이지 링크를 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50분 로드맵을 보시면서 오늘 흐름을 안내합니다. 아이온 → NotebookLM → 업무 활용 → Gemini → 마무리 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AI가 낯설어도 3단계만 기억하세요. 로그인 → 복사 → 확인·수정. 지금부터 함께 따라해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aion.gen.go.kr에 함께 접속합니다. SSO로 한 번 로그인하면 Gemini, NotebookLM, 클래스룸이 연결됩니다.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분석 대시보드로 학생들의 학습 패턴을 확인할 수 있습니다. 수행평가 설계 시 참고 자료로 활용하세요.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NotebookLM은 선생님이 올린 문서만 기반으로 답합니다. notebooklm.google.com에서 새 노트를 만들어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학교 규정 PDF를 올리고 프롬프트를 복사해 질문해 보세요. 가이드 페이지 [복사] 버튼을 활용합니다.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세특 시즌에 학생별 노트를 만들어 두면 매우 유용합니다. 반드시 선생님 관찰을 더해 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성취기준 PDF와 작년 평가계획을 소스로 올리면 새 학년도 초안을 빠르게 만들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부서 업무에 맞는 프롬프트를 골라 바로 시도해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담임 업무에서 가정통신문과 학급 활동 아이디어에 AI를 활용해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@기능으로 실시간 정보를 연동합니다. Gems는 가이드에 시나리오 링크가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Forms Gemini는 최초 1회 영어 설정이 필요합니다. 한글 결과는 프롬프트 끝에 Please output all text in Korean.을 붙이세요.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Gemini로 내용 구성 → 슬라이드 제미나이 패널에서 이미지·슬라이드 생성 → 발표 스크립트까지 7단계입니다.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함수 없이 자연어로 데이터 분석, 클래스룸에서 맞춤 피드백 초안을 받을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방학에 수업을 설계할 때 과목명과 역량만 바꿔서 활용하세요.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강의 후 가장 많은 질문이 '이럴 때 뭘 쓰나요?'입니다. 이 슬라이드를 북마크해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개인정보 보호, 사실 확인, 최종 판단 세 가지를 꼭 기억해 주세요. 실습 가이드 링크를 공유합니다.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7315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E40AF"/>
                </a:solidFill>
              </a:defRPr>
            </a:pPr>
            <a:r>
              <a:t>AI와 함께 스마트하게 일하기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334155"/>
                </a:solidFill>
              </a:defRPr>
            </a:pPr>
            <a:r>
              <a:t>중학교 선생님 대상 생성형 AI 실습 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9319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0">
                <a:solidFill>
                  <a:srgbClr val="334155"/>
                </a:solidFill>
              </a:defRPr>
            </a:pPr>
            <a:r>
              <a:t>광주아이온(AI-ON) · Gemini · NotebookLM</a:t>
            </a:r>
          </a:p>
          <a:p>
            <a:pPr>
              <a:spcAft>
                <a:spcPts val="600"/>
              </a:spcAft>
              <a:defRPr sz="2400">
                <a:solidFill>
                  <a:srgbClr val="334155"/>
                </a:solidFill>
              </a:defRPr>
            </a:pPr>
            <a:r>
              <a:t>연수 50분  |  실습 가이드 웹페이지 병행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40AF"/>
                </a:solidFill>
              </a:defRPr>
            </a:pPr>
            <a:r>
              <a:t>오늘의 목표 &amp; 50분 로드맵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08760"/>
            <a:ext cx="2560320" cy="640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109728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334155"/>
                </a:solidFill>
              </a:defRPr>
            </a:pPr>
            <a:r>
              <a:t>목표 ① 광주아이온 접속 · Gemini · NotebookLM 기본 익히기</a:t>
            </a:r>
          </a:p>
          <a:p>
            <a:pPr>
              <a:spcAft>
                <a:spcPts val="600"/>
              </a:spcAft>
              <a:defRPr sz="2200">
                <a:solidFill>
                  <a:srgbClr val="334155"/>
                </a:solidFill>
              </a:defRPr>
            </a:pPr>
            <a:r>
              <a:t>목표 ② 수업·업무에 바로 쓸 프롬프트 실습</a:t>
            </a:r>
          </a:p>
          <a:p>
            <a:pPr>
              <a:spcAft>
                <a:spcPts val="600"/>
              </a:spcAft>
              <a:defRPr sz="2200">
                <a:solidFill>
                  <a:srgbClr val="334155"/>
                </a:solidFill>
              </a:defRPr>
            </a:pPr>
            <a:r>
              <a:t>목표 ③ 강의 후 스스로 활용할 가이드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40AF"/>
                </a:solidFill>
              </a:defRPr>
            </a:pPr>
            <a:r>
              <a:t>처음이신가요? 3분 빠른 시작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08760"/>
            <a:ext cx="2560320" cy="640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quick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10972800" cy="37906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334155"/>
                </a:solidFill>
              </a:defRPr>
            </a:pPr>
            <a:r>
              <a:t>글자가 작으면 가이드 [가+] 버튼  |  용어는 [AI 기초 도움말]</a:t>
            </a:r>
          </a:p>
          <a:p>
            <a:pPr>
              <a:spcAft>
                <a:spcPts val="600"/>
              </a:spcAft>
              <a:defRPr sz="2200">
                <a:solidFill>
                  <a:srgbClr val="334155"/>
                </a:solidFill>
              </a:defRPr>
            </a:pPr>
            <a:r>
              <a:t>📌 이 페이지 링크를 저장하면 강의 후에도 언제든 따라할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280160" cy="3840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40AF"/>
                </a:solidFill>
              </a:defRPr>
            </a:pPr>
            <a:r>
              <a:t>[0~5분]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40AF"/>
                </a:solidFill>
              </a:defRPr>
            </a:pPr>
            <a:r>
              <a:t>광주아이온(AI-ON) — 통합 인증 &amp; 접속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560320" cy="640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io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669280" cy="21646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334155"/>
                </a:solidFill>
              </a:defRPr>
            </a:pPr>
            <a:r>
              <a:t>아이디: teacher@genedu.kr  →  통합 ID 하나로 전 서비스 연결</a:t>
            </a:r>
          </a:p>
          <a:p>
            <a:pPr>
              <a:spcAft>
                <a:spcPts val="600"/>
              </a:spcAft>
              <a:defRPr sz="2200">
                <a:solidFill>
                  <a:srgbClr val="334155"/>
                </a:solidFill>
              </a:defRPr>
            </a:pPr>
            <a:r>
              <a:t>메인 화면 위젯 클릭 → Gemini, NotebookLM 이동</a:t>
            </a:r>
          </a:p>
          <a:p>
            <a:pPr>
              <a:spcAft>
                <a:spcPts val="600"/>
              </a:spcAft>
              <a:defRPr sz="2200">
                <a:solidFill>
                  <a:srgbClr val="334155"/>
                </a:solidFill>
              </a:defRPr>
            </a:pPr>
            <a:r>
              <a:t>[나의 화면 구성하기]로 위젯 배치 조절</a:t>
            </a:r>
          </a:p>
          <a:p>
            <a:pPr>
              <a:spcAft>
                <a:spcPts val="600"/>
              </a:spcAft>
              <a:defRPr sz="2200">
                <a:solidFill>
                  <a:srgbClr val="334155"/>
                </a:solidFill>
              </a:defRPr>
            </a:pPr>
            <a:r>
              <a:t>나의 강의실 · 학사일정 · 교육 자료실 자동 연동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280160" cy="3840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40AF"/>
                </a:solidFill>
              </a:defRPr>
            </a:pPr>
            <a:r>
              <a:t>[0~5분]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40AF"/>
                </a:solidFill>
              </a:defRPr>
            </a:pPr>
            <a:r>
              <a:t>광주아이온 — 학습 분석 대시보드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560320" cy="640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400" b="0">
                <a:solidFill>
                  <a:srgbClr val="334155"/>
                </a:solidFill>
              </a:defRPr>
            </a:pPr>
            <a:r>
              <a:t>활동 분석: 학생 에듀테크 접속 시간·학습 패턴 시각화</a:t>
            </a:r>
          </a:p>
          <a:p>
            <a:pPr>
              <a:spcAft>
                <a:spcPts val="600"/>
              </a:spcAft>
              <a:defRPr sz="2400">
                <a:solidFill>
                  <a:srgbClr val="334155"/>
                </a:solidFill>
              </a:defRPr>
            </a:pPr>
            <a:r>
              <a:t>퀴즈 리포트: 구글 폼 퀴즈 정답률 분석 → 맞춤 피드백 지원</a:t>
            </a:r>
          </a:p>
          <a:p>
            <a:pPr>
              <a:spcAft>
                <a:spcPts val="600"/>
              </a:spcAft>
              <a:defRPr sz="2400">
                <a:solidFill>
                  <a:srgbClr val="334155"/>
                </a:solidFill>
              </a:defRPr>
            </a:pPr>
            <a:r>
              <a:t>학습 분포: 주도적 학습 시간 파악 → 수행평가 설계 데이터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D97706"/>
                </a:solidFill>
              </a:defRPr>
            </a:pPr>
            <a:r>
              <a:t>💡 매뉴얼 24p 참고 — 학생 학습 데이터를 수업 설계에 활용하세요.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280160" cy="3840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40AF"/>
                </a:solidFill>
              </a:defRPr>
            </a:pPr>
            <a:r>
              <a:t>[5~20분]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40AF"/>
                </a:solidFill>
              </a:defRPr>
            </a:pPr>
            <a:r>
              <a:t>NotebookLM — 나만의 학교 비서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560320" cy="640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otebookl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669280" cy="1984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334155"/>
                </a:solidFill>
              </a:defRPr>
            </a:pPr>
            <a:r>
              <a:t>1-1 학교 맞춤 챗봇  |  1-2 세특 초안  |  1-3 평가계획  |  1-4 문항·루브릭</a:t>
            </a:r>
          </a:p>
          <a:p>
            <a:pPr>
              <a:spcAft>
                <a:spcPts val="600"/>
              </a:spcAft>
              <a:defRPr sz="2200">
                <a:solidFill>
                  <a:srgbClr val="334155"/>
                </a:solidFill>
              </a:defRPr>
            </a:pPr>
            <a:r>
              <a:t>학교 규정·학사일정·공문·보고서를 소스로 업로드</a:t>
            </a:r>
          </a:p>
          <a:p>
            <a:pPr>
              <a:spcAft>
                <a:spcPts val="600"/>
              </a:spcAft>
              <a:defRPr sz="2200">
                <a:solidFill>
                  <a:srgbClr val="334155"/>
                </a:solidFill>
              </a:defRPr>
            </a:pPr>
            <a:r>
              <a:t>업로드된 자료만 근거로 답변 → 학교 맞춤형!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280160" cy="3840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40AF"/>
                </a:solidFill>
              </a:defRPr>
            </a:pPr>
            <a:r>
              <a:t>[5~20분]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40AF"/>
                </a:solidFill>
              </a:defRPr>
            </a:pPr>
            <a:r>
              <a:t>1-1. 우리 학교 맞춤형 챗봇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560320" cy="640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3474720" cy="82296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45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40AF"/>
                </a:solidFill>
              </a:defRPr>
            </a:pPr>
            <a:r>
              <a:t>1. NotebookLM → + 새 노트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737360"/>
            <a:ext cx="3474720" cy="82296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39" y="18745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40AF"/>
                </a:solidFill>
              </a:defRPr>
            </a:pPr>
            <a:r>
              <a:t>2. + 소스 추가 (규정·일정)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737360"/>
            <a:ext cx="3474720" cy="82296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8745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40AF"/>
                </a:solidFill>
              </a:defRPr>
            </a:pPr>
            <a:r>
              <a:t>3. 하단 대화창에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43200"/>
            <a:ext cx="10972800" cy="1828800"/>
          </a:xfrm>
          <a:prstGeom prst="rect">
            <a:avLst/>
          </a:prstGeom>
          <a:solidFill>
            <a:srgbClr val="1E293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>
              <a:defRPr sz="1600">
                <a:solidFill>
                  <a:srgbClr val="FFFFFF"/>
                </a:solidFill>
                <a:latin typeface="Courier New"/>
              </a:defRPr>
            </a:pPr>
            <a:r>
              <a:t>- 2학년 현장체험학습 신청 마감일이 언제야?</a:t>
            </a:r>
            <a:br/>
            <a:r>
              <a:t>- 스마트폰 사용 적발 시 징계 규정을 알려줘.</a:t>
            </a:r>
            <a:br/>
            <a:r>
              <a:t>- 올해 여름방학 시작일과 개학일은?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97706"/>
                </a:solidFill>
              </a:defRPr>
            </a:pPr>
            <a:r>
              <a:t>💡 새 공문이 생길 때마다 소스를 추가하면 챗봇이 계속 똑똑해집니다.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280160" cy="3840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40AF"/>
                </a:solidFill>
              </a:defRPr>
            </a:pPr>
            <a:r>
              <a:t>[5~20분]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40AF"/>
                </a:solidFill>
              </a:defRPr>
            </a:pPr>
            <a:r>
              <a:t>1-2. 학생부 기록(세특) 시간 단축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560320" cy="640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3474720" cy="82296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45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40AF"/>
                </a:solidFill>
              </a:defRPr>
            </a:pPr>
            <a:r>
              <a:t>1. 학생별 노트 생성 (예: 30101 김민준)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737360"/>
            <a:ext cx="3474720" cy="82296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39" y="18745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40AF"/>
                </a:solidFill>
              </a:defRPr>
            </a:pPr>
            <a:r>
              <a:t>2. 과제·보고서·활동기록 업로드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737360"/>
            <a:ext cx="3474720" cy="82296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8745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40AF"/>
                </a:solidFill>
              </a:defRPr>
            </a:pPr>
            <a:r>
              <a:t>3. 세특 초안 요청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43200"/>
            <a:ext cx="10972800" cy="1828800"/>
          </a:xfrm>
          <a:prstGeom prst="rect">
            <a:avLst/>
          </a:prstGeom>
          <a:solidFill>
            <a:srgbClr val="1E293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>
              <a:defRPr sz="1600">
                <a:solidFill>
                  <a:srgbClr val="FFFFFF"/>
                </a:solidFill>
                <a:latin typeface="Courier New"/>
              </a:defRPr>
            </a:pPr>
            <a:r>
              <a:t>이 학생의 탐구 보고서를 바탕으로, 과학적 탐구 역량과 심화 학습 태도가 드러나는 세특 초안을 1~2문장으로 작성해 줘. 데이터 분석 능력이 돋보이도록.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97706"/>
                </a:solidFill>
              </a:defRPr>
            </a:pPr>
            <a:r>
              <a:t>💡 AI 초안은 참고 자료입니다. 선생님의 관찰을 더해 완성하세요.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280160" cy="3840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40AF"/>
                </a:solidFill>
              </a:defRPr>
            </a:pPr>
            <a:r>
              <a:t>[5~20분]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40AF"/>
                </a:solidFill>
              </a:defRPr>
            </a:pPr>
            <a:r>
              <a:t>1-3·1-4. 평가 계획 &amp; 문항·루브릭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560320" cy="640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54864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40AF"/>
                </a:solidFill>
              </a:defRPr>
            </a:pPr>
            <a:r>
              <a:t>1-3 평가 계획 초안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68880"/>
            <a:ext cx="5120640" cy="3566160"/>
          </a:xfrm>
          <a:prstGeom prst="rect">
            <a:avLst/>
          </a:prstGeom>
          <a:solidFill>
            <a:srgbClr val="1E293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>
              <a:defRPr sz="1500">
                <a:solidFill>
                  <a:srgbClr val="FFFFFF"/>
                </a:solidFill>
                <a:latin typeface="Courier New"/>
              </a:defRPr>
            </a:pPr>
            <a:r>
              <a:t>업로드된 '성취기준'과 '2024 평가계획'을 바탕으로, 2025학년도 '확률과 통계' 1학기 평가 계획 초안을 표 형식으로 작성해 줘. (지필 1회, 수행 2회)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4864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7451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472B6"/>
                </a:solidFill>
              </a:defRPr>
            </a:pPr>
            <a:r>
              <a:t>1-4 문항 &amp; 루브릭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468880"/>
            <a:ext cx="5120640" cy="3566160"/>
          </a:xfrm>
          <a:prstGeom prst="rect">
            <a:avLst/>
          </a:prstGeom>
          <a:solidFill>
            <a:srgbClr val="1E293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>
              <a:defRPr sz="1500">
                <a:solidFill>
                  <a:srgbClr val="FFFFFF"/>
                </a:solidFill>
                <a:latin typeface="Courier New"/>
              </a:defRPr>
            </a:pPr>
            <a:r>
              <a:t>(문항) '통합사회 5단' 내용으로 비판적 사고력 평가용 서술형 문항 3개 만들어 줘.</a:t>
            </a:r>
            <a:br/>
            <a:r>
              <a:t>(기준표) 2번 문항의 채점 기준표를 '문제 이해도', '논리적 근거', '창의적 대안' 항목으로 표로 만들어 줘.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280160" cy="3840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40AF"/>
                </a:solidFill>
              </a:defRPr>
            </a:pPr>
            <a:r>
              <a:t>[20~32분]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40AF"/>
                </a:solidFill>
              </a:defRPr>
            </a:pPr>
            <a:r>
              <a:t>부서별 업무 맞춤형 AI 활용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560320" cy="640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54864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40AF"/>
                </a:solidFill>
              </a:defRPr>
            </a:pPr>
            <a:r>
              <a:t>📑 교무기획부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68880"/>
            <a:ext cx="5120640" cy="3566160"/>
          </a:xfrm>
          <a:prstGeom prst="rect">
            <a:avLst/>
          </a:prstGeom>
          <a:solidFill>
            <a:srgbClr val="1E293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>
              <a:defRPr sz="1500">
                <a:solidFill>
                  <a:srgbClr val="FFFFFF"/>
                </a:solidFill>
                <a:latin typeface="Courier New"/>
              </a:defRPr>
            </a:pPr>
            <a:r>
              <a:t>- 2025학년도 1학기 학사일정 주요 행사를 월별 표로 정리해줘.</a:t>
            </a:r>
            <a:br/>
            <a:r>
              <a:t>- 최근 3년 교원평가 보고서를 바탕으로 올해 연수 계획 시사점 3가지 제안해줘.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4864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7451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472B6"/>
                </a:solidFill>
              </a:defRPr>
            </a:pPr>
            <a:r>
              <a:t>🔬 교육연구부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468880"/>
            <a:ext cx="5120640" cy="3566160"/>
          </a:xfrm>
          <a:prstGeom prst="rect">
            <a:avLst/>
          </a:prstGeom>
          <a:solidFill>
            <a:srgbClr val="1E293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>
              <a:defRPr sz="1500">
                <a:solidFill>
                  <a:srgbClr val="FFFFFF"/>
                </a:solidFill>
                <a:latin typeface="Courier New"/>
              </a:defRPr>
            </a:pPr>
            <a:r>
              <a:t>- 국어과 1학년 수행평가 '현대시 비평문 쓰기' 루브릭을 만들어줘.</a:t>
            </a:r>
            <a:br/>
            <a:r>
              <a:t>- 학교평가 보고서 초안을 위해 성과와 개선점 중심 개요를 작성해줘.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280160" cy="3840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40AF"/>
                </a:solidFill>
              </a:defRPr>
            </a:pPr>
            <a:r>
              <a:t>[20~32분]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40AF"/>
                </a:solidFill>
              </a:defRPr>
            </a:pPr>
            <a:r>
              <a:t>담임선생님을 위한 AI 치트키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560320" cy="640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54864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40AF"/>
                </a:solidFill>
              </a:defRPr>
            </a:pPr>
            <a:r>
              <a:t>💌 학부모 소통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68880"/>
            <a:ext cx="5120640" cy="3566160"/>
          </a:xfrm>
          <a:prstGeom prst="rect">
            <a:avLst/>
          </a:prstGeom>
          <a:solidFill>
            <a:srgbClr val="1E293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>
              <a:defRPr sz="1500">
                <a:solidFill>
                  <a:srgbClr val="FFFFFF"/>
                </a:solidFill>
                <a:latin typeface="Courier New"/>
              </a:defRPr>
            </a:pPr>
            <a:r>
              <a:t>- 2학기 학부모 상담주간 안내 가정통신문 초안을 친근한 톤으로 작성해줘.</a:t>
            </a:r>
            <a:br/>
            <a:r>
              <a:t>- 김민준 학생 상담일지를 바탕으로 논의할 점 3가지를 요약해줘.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4864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7451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472B6"/>
                </a:solidFill>
              </a:defRPr>
            </a:pPr>
            <a:r>
              <a:t>🎨 학급 특색 활동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468880"/>
            <a:ext cx="5120640" cy="3566160"/>
          </a:xfrm>
          <a:prstGeom prst="rect">
            <a:avLst/>
          </a:prstGeom>
          <a:solidFill>
            <a:srgbClr val="1E293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>
              <a:defRPr sz="1500">
                <a:solidFill>
                  <a:srgbClr val="FFFFFF"/>
                </a:solidFill>
                <a:latin typeface="Courier New"/>
              </a:defRPr>
            </a:pPr>
            <a:r>
              <a:t>- 우리 반 협동심을 높일 장기 프로젝트 아이디어 5가지를 제안해줘.</a:t>
            </a:r>
            <a:br/>
            <a:r>
              <a:t>- 작년 우수사례집을 바탕으로 우리 반 맞춤 활동 3가지를 추천해줘.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280160" cy="3840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40AF"/>
                </a:solidFill>
              </a:defRPr>
            </a:pPr>
            <a:r>
              <a:t>[32~45분]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40AF"/>
                </a:solidFill>
              </a:defRPr>
            </a:pPr>
            <a:r>
              <a:t>Gemini — @기능 &amp; Gems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560320" cy="640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334155"/>
                </a:solidFill>
              </a:defRPr>
            </a:pPr>
            <a:r>
              <a:t>@기능: Gemini 채팅에서 @Google 지도 · @Drive · @YouTube 연동</a:t>
            </a:r>
          </a:p>
          <a:p>
            <a:pPr>
              <a:spcAft>
                <a:spcPts val="600"/>
              </a:spcAft>
              <a:defRPr sz="2200">
                <a:solidFill>
                  <a:srgbClr val="334155"/>
                </a:solidFill>
              </a:defRPr>
            </a:pPr>
            <a:r>
              <a:t>Gems: 자주 쓰는 AI 역할 저장 — 프롬프트 생성기, 양식 생성기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57600"/>
            <a:ext cx="10972800" cy="1828800"/>
          </a:xfrm>
          <a:prstGeom prst="rect">
            <a:avLst/>
          </a:prstGeom>
          <a:solidFill>
            <a:srgbClr val="1E293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>
              <a:defRPr sz="1600">
                <a:solidFill>
                  <a:srgbClr val="FFFFFF"/>
                </a:solidFill>
                <a:latin typeface="Courier New"/>
              </a:defRPr>
            </a:pPr>
            <a:r>
              <a:t>🗺️ @Google 지도 경주 2박3일 수학여행 유적지 중심 동선을 짜줘.</a:t>
            </a:r>
            <a:br/>
            <a:r>
              <a:t>📂 @Google Drive '2025 평가계획.pdf'를 요약해줘.</a:t>
            </a:r>
            <a:br/>
            <a:r>
              <a:t>▶️ @YouTube 셰익스피어 '햄릿' 중학생용 영상을 찾아줘.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280160" cy="3840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40AF"/>
                </a:solidFill>
              </a:defRPr>
            </a:pPr>
            <a:r>
              <a:t>[32~45분]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40AF"/>
                </a:solidFill>
              </a:defRPr>
            </a:pPr>
            <a:r>
              <a:t>Gemini — Google Forms 설문 자동화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560320" cy="640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3474720" cy="82296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45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40AF"/>
                </a:solidFill>
              </a:defRPr>
            </a:pPr>
            <a:r>
              <a:t>1. 사전 준비(최초 1회): Google 언어 → English (US)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737360"/>
            <a:ext cx="3474720" cy="82296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39" y="18745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40AF"/>
                </a:solidFill>
              </a:defRPr>
            </a:pPr>
            <a:r>
              <a:t>2. Workspace Labs 가입 (labs.google.com)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737360"/>
            <a:ext cx="3474720" cy="82296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8745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40AF"/>
                </a:solidFill>
              </a:defRPr>
            </a:pPr>
            <a:r>
              <a:t>3. Forms → 'Create form with Gemini' → 영어로 요청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43200"/>
            <a:ext cx="10972800" cy="1828800"/>
          </a:xfrm>
          <a:prstGeom prst="rect">
            <a:avLst/>
          </a:prstGeom>
          <a:solidFill>
            <a:srgbClr val="1E293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>
              <a:defRPr sz="1600">
                <a:solidFill>
                  <a:srgbClr val="FFFFFF"/>
                </a:solidFill>
                <a:latin typeface="Courier New"/>
              </a:defRPr>
            </a:pPr>
            <a:r>
              <a:t>Create a survey for 2nd-grade middle school students about their preferred school trip destination. Include choices (Jeju, Gyeongju, Busan, Gangwon-do) and reasons. Please output all text in Korean.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97706"/>
                </a:solidFill>
              </a:defRPr>
            </a:pPr>
            <a:r>
              <a:t>💡 한글 결과물: 프롬프트 끝에 Please output all text in Korean. 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280160" cy="3840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40AF"/>
                </a:solidFill>
              </a:defRPr>
            </a:pPr>
            <a:r>
              <a:t>[32~45분]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40AF"/>
                </a:solidFill>
              </a:defRPr>
            </a:pPr>
            <a:r>
              <a:t>Gemini — 수업 자료 제작 7단계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560320" cy="640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s_7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669280" cy="25769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334155"/>
                </a:solidFill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0" y="4572000"/>
            <a:ext cx="5303520" cy="1645920"/>
          </a:xfrm>
          <a:prstGeom prst="rect">
            <a:avLst/>
          </a:prstGeom>
          <a:solidFill>
            <a:srgbClr val="1E293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>
              <a:defRPr sz="1400">
                <a:solidFill>
                  <a:srgbClr val="FFFFFF"/>
                </a:solidFill>
                <a:latin typeface="Courier New"/>
              </a:defRPr>
            </a:pPr>
            <a:r>
              <a:t>[Step1] '조선 후기 사회의 변화' 주제로 중학생 대상 슬라이드 5장 구성해줘.</a:t>
            </a:r>
            <a:br/>
            <a:r>
              <a:t>[Step2] A vibrant market scene in late Joseon Dynasty, digital art, presentation background.</a:t>
            </a:r>
            <a:br/>
            <a:r>
              <a:t>[Step3] 생성한 슬라이드 바탕으로 쉽고 재미있는 발표 스크립트 작성해줘.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280160" cy="3840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40AF"/>
                </a:solidFill>
              </a:defRPr>
            </a:pPr>
            <a:r>
              <a:t>[45~48분]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40AF"/>
                </a:solidFill>
              </a:defRPr>
            </a:pPr>
            <a:r>
              <a:t>워크스페이스+ 심화 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560320" cy="640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54864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40AF"/>
                </a:solidFill>
              </a:defRPr>
            </a:pPr>
            <a:r>
              <a:t>📊 스프레드시트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68880"/>
            <a:ext cx="5120640" cy="3566160"/>
          </a:xfrm>
          <a:prstGeom prst="rect">
            <a:avLst/>
          </a:prstGeom>
          <a:solidFill>
            <a:srgbClr val="1E293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>
              <a:defRPr sz="1500">
                <a:solidFill>
                  <a:srgbClr val="FFFFFF"/>
                </a:solidFill>
                <a:latin typeface="Courier New"/>
              </a:defRPr>
            </a:pPr>
            <a:r>
              <a:t>이 스프레드시트 데이터에서 [국어] 점수가 [80점] 이상인 학생들의 특징을 분석해주고, 보완 조언을 작성해줘.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48640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7451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472B6"/>
                </a:solidFill>
              </a:defRPr>
            </a:pPr>
            <a:r>
              <a:t>🎓 클래스룸 피드백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468880"/>
            <a:ext cx="5120640" cy="3566160"/>
          </a:xfrm>
          <a:prstGeom prst="rect">
            <a:avLst/>
          </a:prstGeom>
          <a:solidFill>
            <a:srgbClr val="1E293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>
              <a:defRPr sz="1500">
                <a:solidFill>
                  <a:srgbClr val="FFFFFF"/>
                </a:solidFill>
                <a:latin typeface="Courier New"/>
              </a:defRPr>
            </a:pPr>
            <a:r>
              <a:t>업로드된 학생 과제 PDF를 읽고, [성취기준]에 비추어 잘한 점 2가지와 보완점 1가지를 따뜻하게 피드백해줘.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280160" cy="3840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40AF"/>
                </a:solidFill>
              </a:defRPr>
            </a:pPr>
            <a:r>
              <a:t>[45~48분]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40AF"/>
                </a:solidFill>
              </a:defRPr>
            </a:pPr>
            <a:r>
              <a:t>[BONUS] 2022 개정 교육과정 수업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560320" cy="640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0972800" cy="1828800"/>
          </a:xfrm>
          <a:prstGeom prst="rect">
            <a:avLst/>
          </a:prstGeom>
          <a:solidFill>
            <a:srgbClr val="1E293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>
              <a:defRPr sz="1600">
                <a:solidFill>
                  <a:srgbClr val="FFFFFF"/>
                </a:solidFill>
                <a:latin typeface="Courier New"/>
              </a:defRPr>
            </a:pPr>
            <a:r>
              <a:t>2022 개정 교육과정 [과목명]의 성취기준을 반영하여, 학생들의 [비판적 사고 역량]을 끌어낼 수 있는 수업을 설계해줘. 매 차시 학생이 스스로 질문을 생성하는 활동을 포함해줘.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97706"/>
                </a:solidFill>
              </a:defRPr>
            </a:pPr>
            <a:r>
              <a:t>💡 역량 중심의 깊이 있는 학습을 AI와 함께 설계하세요!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40AF"/>
                </a:solidFill>
              </a:defRPr>
            </a:pPr>
            <a:r>
              <a:t>상황별 AI 활용 가이드 — 강의 후 참고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08760"/>
            <a:ext cx="2560320" cy="640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ol_ch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669280" cy="21543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334155"/>
                </a:solidFill>
              </a:defRPr>
            </a:pPr>
            <a:r>
              <a:t>규정·일정·세특·평가 → NotebookLM</a:t>
            </a:r>
          </a:p>
          <a:p>
            <a:pPr>
              <a:spcAft>
                <a:spcPts val="600"/>
              </a:spcAft>
              <a:defRPr sz="2200">
                <a:solidFill>
                  <a:srgbClr val="334155"/>
                </a:solidFill>
              </a:defRPr>
            </a:pPr>
            <a:r>
              <a:t>가정통신문·슬라이드·설문·아이디어 → Gemini</a:t>
            </a:r>
          </a:p>
          <a:p>
            <a:pPr>
              <a:spcAft>
                <a:spcPts val="600"/>
              </a:spcAft>
              <a:defRPr sz="2200">
                <a:solidFill>
                  <a:srgbClr val="334155"/>
                </a:solidFill>
              </a:defRPr>
            </a:pPr>
            <a:r>
              <a:t>가이드 [상황별 활용] + 검색창으로 프롬프트 바로 찾기</a:t>
            </a:r>
          </a:p>
        </p:txBody>
      </p:sp>
      <p:pic>
        <p:nvPicPr>
          <p:cNvPr id="6" name="Picture 5" descr="situation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89120"/>
            <a:ext cx="5669280" cy="23192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40AF"/>
                </a:solidFill>
              </a:defRPr>
            </a:pPr>
            <a:r>
              <a:t>마무리 — AI는 선생님의 파트너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2560320" cy="64008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356616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40AF"/>
                </a:solidFill>
              </a:defRPr>
            </a:pPr>
            <a:r>
              <a:t>🔒 개인정보 보호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4155"/>
                </a:solidFill>
              </a:defRPr>
            </a:pPr>
            <a:r>
              <a:t>학생 실명·연락처 등 민감 정보는 AI에 입력 금지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28800"/>
            <a:ext cx="356616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40AF"/>
                </a:solidFill>
              </a:defRPr>
            </a:pPr>
            <a:r>
              <a:t>🔍 사실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7432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4155"/>
                </a:solidFill>
              </a:defRPr>
            </a:pPr>
            <a:r>
              <a:t>AI 생성 정보는 공신력 있는 자료로 재확인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828800"/>
            <a:ext cx="356616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40AF"/>
                </a:solidFill>
              </a:defRPr>
            </a:pPr>
            <a:r>
              <a:t>✅ 최종 판단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7432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4155"/>
                </a:solidFill>
              </a:defRPr>
            </a:pPr>
            <a:r>
              <a:t>모든 교육적 판단의 책임은 선생님에게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54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40AF"/>
                </a:solidFill>
              </a:defRPr>
            </a:pPr>
            <a:r>
              <a:t>AI는 선생님을 대체하지 않고, 아이들과의 정서적 교감에 더 집중하도록 돕습니다.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472B6"/>
                </a:solidFill>
              </a:defRPr>
            </a:pPr>
            <a:r>
              <a:t>실습 가이드 링크 공유  →  Q&amp;A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64748B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